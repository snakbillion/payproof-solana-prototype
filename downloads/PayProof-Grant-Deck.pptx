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da49b5c05941a2" /><Relationship Type="http://schemas.openxmlformats.org/officeDocument/2006/relationships/extended-properties" Target="/docProps/app.xml" Id="R169f7cd82c774853" /><Relationship Type="http://schemas.openxmlformats.org/officeDocument/2006/relationships/officeDocument" Target="/ppt/presentation.xml" Id="Rd6efee1593f246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5523c4f9094680"/>
  </p:sldMasterIdLst>
  <p:notesMasterIdLst>
    <p:notesMasterId xmlns:r="http://schemas.openxmlformats.org/officeDocument/2006/relationships" r:id="R03ee8207f7a24190"/>
  </p:notesMasterIdLst>
  <p:sldIdLst>
    <p:sldId xmlns:r="http://schemas.openxmlformats.org/officeDocument/2006/relationships" id="256" r:id="R05f7fafa0400450a"/>
    <p:sldId xmlns:r="http://schemas.openxmlformats.org/officeDocument/2006/relationships" id="257" r:id="R3fdb6c0524954790"/>
    <p:sldId xmlns:r="http://schemas.openxmlformats.org/officeDocument/2006/relationships" id="258" r:id="R5d45a90ee946411a"/>
    <p:sldId xmlns:r="http://schemas.openxmlformats.org/officeDocument/2006/relationships" id="259" r:id="R94e553093a9d4276"/>
    <p:sldId xmlns:r="http://schemas.openxmlformats.org/officeDocument/2006/relationships" id="260" r:id="R896f7dd3dbef4c4d"/>
    <p:sldId xmlns:r="http://schemas.openxmlformats.org/officeDocument/2006/relationships" id="261" r:id="Ra55ce2f8cab34b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e4b7e1488e4b6f" /><Relationship Type="http://schemas.openxmlformats.org/officeDocument/2006/relationships/slideMaster" Target="/ppt/slideMasters/slideMaster1.xml" Id="R5a5523c4f9094680" /><Relationship Type="http://schemas.openxmlformats.org/officeDocument/2006/relationships/notesMaster" Target="/ppt/notesMasters/notesMaster1.xml" Id="R03ee8207f7a24190" /><Relationship Type="http://schemas.openxmlformats.org/officeDocument/2006/relationships/presProps" Target="/ppt/presProps.xml" Id="Rea8c06e8d2144da4" /><Relationship Type="http://schemas.openxmlformats.org/officeDocument/2006/relationships/tableStyles" Target="/ppt/tableStyles.xml" Id="R869d6a051275443a" /><Relationship Type="http://schemas.openxmlformats.org/officeDocument/2006/relationships/slide" Target="/ppt/slides/slide1.xml" Id="R05f7fafa0400450a" /><Relationship Type="http://schemas.openxmlformats.org/officeDocument/2006/relationships/slide" Target="/ppt/slides/slide2.xml" Id="R3fdb6c0524954790" /><Relationship Type="http://schemas.openxmlformats.org/officeDocument/2006/relationships/slide" Target="/ppt/slides/slide3.xml" Id="R5d45a90ee946411a" /><Relationship Type="http://schemas.openxmlformats.org/officeDocument/2006/relationships/slide" Target="/ppt/slides/slide4.xml" Id="R94e553093a9d4276" /><Relationship Type="http://schemas.openxmlformats.org/officeDocument/2006/relationships/slide" Target="/ppt/slides/slide5.xml" Id="R896f7dd3dbef4c4d" /><Relationship Type="http://schemas.openxmlformats.org/officeDocument/2006/relationships/slide" Target="/ppt/slides/slide6.xml" Id="Ra55ce2f8cab34b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e09265039c42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cc68af71e441f5" /><Relationship Type="http://schemas.openxmlformats.org/officeDocument/2006/relationships/notesMaster" Target="/ppt/notesMasters/notesMaster1.xml" Id="Rcad414256c534e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53a818931d412b" /><Relationship Type="http://schemas.openxmlformats.org/officeDocument/2006/relationships/notesMaster" Target="/ppt/notesMasters/notesMaster1.xml" Id="R1fccb461c67949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cfb92439b340c5" /><Relationship Type="http://schemas.openxmlformats.org/officeDocument/2006/relationships/notesMaster" Target="/ppt/notesMasters/notesMaster1.xml" Id="R2be04d752d704c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b3bd231a0b480e" /><Relationship Type="http://schemas.openxmlformats.org/officeDocument/2006/relationships/notesMaster" Target="/ppt/notesMasters/notesMaster1.xml" Id="Rc765eef3da5047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13a8ec1e164249" /><Relationship Type="http://schemas.openxmlformats.org/officeDocument/2006/relationships/notesMaster" Target="/ppt/notesMasters/notesMaster1.xml" Id="Re31dfd9f0bbb4b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30d2d3b7aa4323" /><Relationship Type="http://schemas.openxmlformats.org/officeDocument/2006/relationships/notesMaster" Target="/ppt/notesMasters/notesMaster1.xml" Id="R9a1e592ac8cd40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https://payproof-network.rohiy1347.chatgpt.site/</a:t>
            </a:r>
          </a:p>
          <a:p xmlns:a="http://schemas.openxmlformats.org/drawingml/2006/main">
            <a:r>
              <a:t>- https://github.com/SNAKBILLION/payproof-solana-prototype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problem statement and import schema: https://github.com/SNAKBILLION/payproof-solana-prototype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captured from local working product using the downloadable sample CSV bundle.</a:t>
            </a:r>
          </a:p>
          <a:p xmlns:a="http://schemas.openxmlformats.org/drawingml/2006/main">
            <a:r>
              <a:t>- https://payproof-network.rohiy1347.chatgpt.site/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 captured from the working policy engine and sample evidence bundle.</a:t>
            </a:r>
          </a:p>
          <a:p xmlns:a="http://schemas.openxmlformats.org/drawingml/2006/main">
            <a:r>
              <a:t>- https://github.com/SNAKBILLION/payproof-solana-prototype/blob/main/SUBMISSION.md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https://solana.com/docs/tools/attestations/instructions/create-attestation</a:t>
            </a:r>
          </a:p>
          <a:p xmlns:a="http://schemas.openxmlformats.org/drawingml/2006/main">
            <a:r>
              <a:t>- Screenshots captured from the working PayProof product.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https://superteam.fun/earn/grants/solana-foundation-india-grants</a:t>
            </a:r>
          </a:p>
          <a:p xmlns:a="http://schemas.openxmlformats.org/drawingml/2006/main">
            <a:r>
              <a:t>- https://solana.org/grants-funding</a:t>
            </a:r>
          </a:p>
          <a:p xmlns:a="http://schemas.openxmlformats.org/drawingml/2006/main">
            <a:r>
              <a:t>- https://colosseum.com/eternal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ee231e2b3046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20e11a54ab4dfa" /><Relationship Type="http://schemas.openxmlformats.org/officeDocument/2006/relationships/slideLayout" Target="/ppt/slideLayouts/slideLayout1.xml" Id="Re1ff9d7e050e44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ff9d7e050e44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ac0df6c8847ae" /><Relationship Type="http://schemas.openxmlformats.org/officeDocument/2006/relationships/image" Target="/ppt/media/image.jpeg" Id="R22943c4d318d475e" /><Relationship Type="http://schemas.openxmlformats.org/officeDocument/2006/relationships/notesSlide" Target="/ppt/notesSlides/notesSlide1.xml" Id="R7e644fae242447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7dd65c3b04701" /><Relationship Type="http://schemas.openxmlformats.org/officeDocument/2006/relationships/notesSlide" Target="/ppt/notesSlides/notesSlide2.xml" Id="R902e0245f47542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bdb42dc8fb4949" /><Relationship Type="http://schemas.openxmlformats.org/officeDocument/2006/relationships/image" Target="/ppt/media/image2.jpeg" Id="R0eda5c47781e4ddc" /><Relationship Type="http://schemas.openxmlformats.org/officeDocument/2006/relationships/notesSlide" Target="/ppt/notesSlides/notesSlide3.xml" Id="Rdd37d3b5413041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c304f7db54cc6" /><Relationship Type="http://schemas.openxmlformats.org/officeDocument/2006/relationships/image" Target="/ppt/media/image3.jpeg" Id="R7ec5f211e792429a" /><Relationship Type="http://schemas.openxmlformats.org/officeDocument/2006/relationships/notesSlide" Target="/ppt/notesSlides/notesSlide4.xml" Id="R3fe8c9a22d9141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f2d49e07849e6" /><Relationship Type="http://schemas.openxmlformats.org/officeDocument/2006/relationships/image" Target="/ppt/media/image4.jpeg" Id="Rc8b6aed2b5d74c13" /><Relationship Type="http://schemas.openxmlformats.org/officeDocument/2006/relationships/image" Target="/ppt/media/image5.jpeg" Id="R21c21187c2374756" /><Relationship Type="http://schemas.openxmlformats.org/officeDocument/2006/relationships/notesSlide" Target="/ppt/notesSlides/notesSlide5.xml" Id="R8f29b77344194e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a9a0cae7db43ed" /><Relationship Type="http://schemas.openxmlformats.org/officeDocument/2006/relationships/notesSlide" Target="/ppt/notesSlides/notesSlide6.xml" Id="Ra0efb4e1037e4c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7F727-BEDE-4D29-85D7-D20F8DC5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5794C"/>
                </a:solidFill>
              </a:defRPr>
            </a:pPr>
            <a:r>
              <a:rPr sz="975" b="1">
                <a:solidFill>
                  <a:srgbClr val="15794C"/>
                </a:solidFill>
              </a:rPr>
              <a:t>SOLANA COMMERCE EVIDENCE NETWORK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A18676-5658-43F0-81CE-FBEC0822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4762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75" b="1">
                <a:solidFill>
                  <a:srgbClr val="111614"/>
                </a:solidFill>
              </a:defRPr>
            </a:pPr>
            <a:r>
              <a:rPr sz="4575" b="1">
                <a:solidFill>
                  <a:srgbClr val="111614"/>
                </a:solidFill>
              </a:rPr>
              <a:t>Invisible commerce,</a:t>
            </a:r>
          </a:p>
          <a:p xmlns:a="http://schemas.openxmlformats.org/drawingml/2006/main">
            <a:pPr algn="l">
              <a:defRPr sz="4575" b="1">
                <a:solidFill>
                  <a:srgbClr val="111614"/>
                </a:solidFill>
              </a:defRPr>
            </a:pPr>
            <a:r>
              <a:rPr sz="4575" b="1">
                <a:solidFill>
                  <a:srgbClr val="111614"/>
                </a:solidFill>
              </a:rPr>
              <a:t>verified.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F22903-AAF4-4B2C-B471-8AD3EF76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333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35F"/>
                </a:solidFill>
              </a:defRPr>
            </a:pPr>
            <a:r>
              <a:rPr sz="1800" b="0">
                <a:solidFill>
                  <a:srgbClr val="59635F"/>
                </a:solidFill>
              </a:rPr>
              <a:t>PayProof turns fragmented merchant records into a consent-bound claim a lender can verify.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6A32F-D8DC-4307-8134-5C37A95AD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B96E1-33F9-416D-A7C4-B132C849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4"/>
                </a:solidFill>
              </a:defRPr>
            </a:pPr>
            <a:r>
              <a:rPr sz="1575" b="1">
                <a:solidFill>
                  <a:srgbClr val="111614"/>
                </a:solidFill>
              </a:rPr>
              <a:t>28 records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4CAA2-31BF-4498-BB9D-7311A1FF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482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4"/>
                </a:solidFill>
              </a:defRPr>
            </a:pPr>
            <a:r>
              <a:rPr sz="1575" b="1">
                <a:solidFill>
                  <a:srgbClr val="111614"/>
                </a:solidFill>
              </a:rPr>
              <a:t>13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A249C3-91EE-4BE5-AA2A-902E6954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482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614"/>
                </a:solidFill>
              </a:defRPr>
            </a:pPr>
            <a:r>
              <a:rPr sz="1575" b="1">
                <a:solidFill>
                  <a:srgbClr val="111614"/>
                </a:solidFill>
              </a:rPr>
              <a:t>92% cross-source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C698E-BD95-44A3-9BBB-CFAB579B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48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Working product on Solana devnet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3E2B2-5B44-4083-9D7A-877B443D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685800"/>
            <a:ext cx="626745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43c4d318d475e"/>
          <a:stretch xmlns:a="http://schemas.openxmlformats.org/drawingml/2006/main"/>
        </p:blipFill>
        <p:spPr>
          <a:xfrm xmlns:a="http://schemas.openxmlformats.org/drawingml/2006/main">
            <a:off x="5619750" y="1479182"/>
            <a:ext cx="5810250" cy="363293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AA6E8-2B83-4789-A54B-F1ED0086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PAYPROOF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EA4DA-5A11-4C6C-82F3-1BFE0399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60286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7B11AA-E563-47D1-ACCE-BE6D6565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THE UNDERWRITING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676F6-6661-47ED-A9AA-2436CB25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71550"/>
            <a:ext cx="7905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614"/>
                </a:solidFill>
              </a:defRPr>
            </a:pPr>
            <a:r>
              <a:rPr sz="4050" b="1">
                <a:solidFill>
                  <a:srgbClr val="111614"/>
                </a:solidFill>
              </a:rPr>
              <a:t>The commerce is real.</a:t>
            </a:r>
          </a:p>
          <a:p xmlns:a="http://schemas.openxmlformats.org/drawingml/2006/main">
            <a:pPr algn="l">
              <a:defRPr sz="4050" b="1">
                <a:solidFill>
                  <a:srgbClr val="111614"/>
                </a:solidFill>
              </a:defRPr>
            </a:pPr>
            <a:r>
              <a:rPr sz="4050" b="1">
                <a:solidFill>
                  <a:srgbClr val="111614"/>
                </a:solidFill>
              </a:rPr>
              <a:t>The evidence is disconnected.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DD960-3F91-4763-8E16-7BEC997C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685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35F"/>
                </a:solidFill>
              </a:defRPr>
            </a:pPr>
            <a:r>
              <a:rPr sz="1725" b="0">
                <a:solidFill>
                  <a:srgbClr val="59635F"/>
                </a:solidFill>
              </a:rPr>
              <a:t>A WhatsApp order, invoice, UPI settlement and bank credit may describe one sale. Today a lender must reconstruct that chain manually.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C826BE-E8AE-481B-A367-54C99C4C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7C4009-91D0-4B0E-8678-850B11DD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4FD33-246F-471C-BC62-A11692F6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4"/>
                </a:solidFill>
              </a:defRPr>
            </a:pPr>
            <a:r>
              <a:rPr sz="1875" b="1">
                <a:solidFill>
                  <a:srgbClr val="111614"/>
                </a:solidFill>
              </a:rPr>
              <a:t>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BD2B41-1601-43D7-8CEB-2CD7476E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intent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6B99E-57A7-4C0B-B052-E14DD99B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453C0-3232-47DF-A76D-BD435FED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14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5E6273-7DC3-4394-B583-9D7BCCBE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4"/>
                </a:solidFill>
              </a:defRPr>
            </a:pPr>
            <a:r>
              <a:rPr sz="1875" b="1">
                <a:solidFill>
                  <a:srgbClr val="111614"/>
                </a:solidFill>
              </a:rPr>
              <a:t>Invoice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D354C-ABA7-439A-9EE7-9A161840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81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obligation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2C9BC-6F0F-460D-BC48-0AEC86E8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62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4BFE0-D1D9-469E-8846-3711BD5C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14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32825-16F9-43EB-840D-EA5875CB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4"/>
                </a:solidFill>
              </a:defRPr>
            </a:pPr>
            <a:r>
              <a:rPr sz="1875" b="1">
                <a:solidFill>
                  <a:srgbClr val="111614"/>
                </a:solidFill>
              </a:rPr>
              <a:t>UPI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1AB434-FA27-4719-838F-23D9A008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81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settlement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5AE97-5618-4FB5-A390-4205AD23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E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1FCC7-9E20-4583-9E76-9F829EE37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14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B28306-69E0-4F1F-9142-3FD31B72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2197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614"/>
                </a:solidFill>
              </a:defRPr>
            </a:pPr>
            <a:r>
              <a:rPr sz="1875" b="1">
                <a:solidFill>
                  <a:srgbClr val="111614"/>
                </a:solidFill>
              </a:rPr>
              <a:t>Bank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6F0A5-7C61-4B41-AB38-02279F7E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581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35F"/>
                </a:solidFill>
              </a:defRPr>
            </a:pPr>
            <a:r>
              <a:rPr sz="1200" b="0">
                <a:solidFill>
                  <a:srgbClr val="59635F"/>
                </a:solidFill>
              </a:rPr>
              <a:t>receipt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381D59-8738-42BF-B28C-027CD0EB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PAYPROOF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286AF-924B-44A3-9A84-B04BE8AE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740239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D00E4-7456-45B5-9CF1-17A2A570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WORKING 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E070B-A628-4104-9480-91EB8643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614"/>
                </a:solidFill>
              </a:defRPr>
            </a:pPr>
            <a:r>
              <a:rPr sz="2925" b="1">
                <a:solidFill>
                  <a:srgbClr val="111614"/>
                </a:solidFill>
              </a:rPr>
              <a:t>Reconciliation creates a traceable revenue graph.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51D7C-6A37-4CA8-9872-6AEE7EDE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5F"/>
                </a:solidFill>
              </a:defRPr>
            </a:pPr>
            <a:r>
              <a:rPr sz="1500" b="0">
                <a:solidFill>
                  <a:srgbClr val="59635F"/>
                </a:solidFill>
              </a:rPr>
              <a:t>Every event keeps source provenance, confidence and exceptions.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a5c47781e4ddc"/>
          <a:stretch xmlns:a="http://schemas.openxmlformats.org/drawingml/2006/main"/>
        </p:blipFill>
        <p:spPr>
          <a:xfrm xmlns:a="http://schemas.openxmlformats.org/drawingml/2006/main">
            <a:off x="2759845" y="1924050"/>
            <a:ext cx="6672311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8F657-B837-4BF8-A752-CF72E47D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47750"/>
            <a:ext cx="27813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D7289-D30E-47F7-A0B3-BB1523E6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123950"/>
            <a:ext cx="1066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28 → 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A2431-B532-46DF-90FF-8F07EF13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1430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6C2BC"/>
                </a:solidFill>
              </a:defRPr>
            </a:pPr>
            <a:r>
              <a:rPr sz="1125" b="0">
                <a:solidFill>
                  <a:srgbClr val="B6C2BC"/>
                </a:solidFill>
              </a:rPr>
              <a:t>records to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28CEC-6660-41F2-BD50-214B27EC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4382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E7A0"/>
                </a:solidFill>
              </a:defRPr>
            </a:pPr>
            <a:r>
              <a:rPr sz="1050" b="1">
                <a:solidFill>
                  <a:srgbClr val="66E7A0"/>
                </a:solidFill>
              </a:rPr>
              <a:t>92% cross-source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8377D2-7981-4F2A-939C-E8E03BAB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PAYPROOF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0AC5C-F829-42F4-8B35-34954E66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6144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5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CA86A-4930-41AF-B53A-02080B47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E7A0"/>
                </a:solidFill>
              </a:defRPr>
            </a:pPr>
            <a:r>
              <a:rPr sz="975" b="1">
                <a:solidFill>
                  <a:srgbClr val="66E7A0"/>
                </a:solidFill>
              </a:rPr>
              <a:t>DECISION 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B4797-10C2-4915-820D-5B85C081F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A lender can replay every reason.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A91E48-3813-4E79-B758-30D3FBA6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6C2BC"/>
                </a:solidFill>
              </a:defRPr>
            </a:pPr>
            <a:r>
              <a:rPr sz="1500" b="0">
                <a:solidFill>
                  <a:srgbClr val="B6C2BC"/>
                </a:solidFill>
              </a:rPr>
              <a:t>No universal credit score. One purpose-specific policy, five explicit checks, and mandatory human review.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c5f211e792429a"/>
          <a:stretch xmlns:a="http://schemas.openxmlformats.org/drawingml/2006/main"/>
        </p:blipFill>
        <p:spPr>
          <a:xfrm xmlns:a="http://schemas.openxmlformats.org/drawingml/2006/main">
            <a:off x="5172075" y="2333625"/>
            <a:ext cx="5791200" cy="3619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EE9CDD-F3F5-41B5-903A-35EECF76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95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2A8F4-4B5B-4622-9088-7DFF02CE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5/5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743D7-5708-489D-B08A-FD942D39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051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2AD"/>
                </a:solidFill>
              </a:defRPr>
            </a:pPr>
            <a:r>
              <a:rPr sz="1200" b="0">
                <a:solidFill>
                  <a:srgbClr val="A8B2AD"/>
                </a:solidFill>
              </a:rPr>
              <a:t>policy checks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54D72F-49CA-414A-B153-F31138E5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D0607-F364-4A1C-9E92-9E411AFE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576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₹39,767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B858F3-273E-4CDE-9E4C-21937B47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957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2AD"/>
                </a:solidFill>
              </a:defRPr>
            </a:pPr>
            <a:r>
              <a:rPr sz="1200" b="0">
                <a:solidFill>
                  <a:srgbClr val="A8B2AD"/>
                </a:solidFill>
              </a:rPr>
              <a:t>supported monthly revenue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BC2FA-601D-459F-8D2B-47379FF1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2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C2386-8CC4-41B8-9434-CD974D2F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482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71321D-9F8F-449C-9D44-F1F36665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2AD"/>
                </a:solidFill>
              </a:defRPr>
            </a:pPr>
            <a:r>
              <a:rPr sz="1200" b="0">
                <a:solidFill>
                  <a:srgbClr val="A8B2AD"/>
                </a:solidFill>
              </a:rPr>
              <a:t>revenue volatility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35ED9-C07C-4AAF-B789-09094BBD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8B2AD"/>
                </a:solidFill>
              </a:defRPr>
            </a:pPr>
            <a:r>
              <a:rPr sz="825" b="1">
                <a:solidFill>
                  <a:srgbClr val="A8B2AD"/>
                </a:solidFill>
              </a:rPr>
              <a:t>PAYPROOF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379CC-6477-4DF1-86CB-D760166F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8B2AD"/>
                </a:solidFill>
              </a:defRPr>
            </a:pPr>
            <a:r>
              <a:rPr sz="825" b="1">
                <a:solidFill>
                  <a:srgbClr val="A8B2AD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14243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7853F3-5AB2-4BB1-BA2B-C14419B2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PRIVACY-SAFE TRUST RAIL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96AB7-FB03-4AF9-BF09-6400107F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614"/>
                </a:solidFill>
              </a:defRPr>
            </a:pPr>
            <a:r>
              <a:rPr sz="3225" b="1">
                <a:solidFill>
                  <a:srgbClr val="111614"/>
                </a:solidFill>
              </a:rPr>
              <a:t>Share a claim, not a financial life.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2C4A87-603B-493C-AE66-2AA7AE35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790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35F"/>
                </a:solidFill>
              </a:defRPr>
            </a:pPr>
            <a:r>
              <a:rPr sz="1500" b="0">
                <a:solidFill>
                  <a:srgbClr val="59635F"/>
                </a:solidFill>
              </a:rPr>
              <a:t>Raw records stay off-chain. The merchant selects claims and expiry; Solana carries the verifiable commitment.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b6aed2b5d74c13"/>
          <a:stretch xmlns:a="http://schemas.openxmlformats.org/drawingml/2006/main"/>
        </p:blipFill>
        <p:spPr>
          <a:xfrm xmlns:a="http://schemas.openxmlformats.org/drawingml/2006/main">
            <a:off x="533400" y="2196703"/>
            <a:ext cx="5314950" cy="3321844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c21187c2374756"/>
          <a:stretch xmlns:a="http://schemas.openxmlformats.org/drawingml/2006/main"/>
        </p:blipFill>
        <p:spPr>
          <a:xfrm xmlns:a="http://schemas.openxmlformats.org/drawingml/2006/main">
            <a:off x="6343650" y="2196004"/>
            <a:ext cx="5314950" cy="332324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BEB16-47B7-4E19-AFE5-65F31B27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76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794C"/>
                </a:solidFill>
              </a:defRPr>
            </a:pPr>
            <a:r>
              <a:rPr sz="900" b="1">
                <a:solidFill>
                  <a:srgbClr val="15794C"/>
                </a:solidFill>
              </a:rPr>
              <a:t>MERCHANT CONTROLS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6DEDE-C5E7-4919-B1BE-5B801A45A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4"/>
                </a:solidFill>
              </a:defRPr>
            </a:pPr>
            <a:r>
              <a:rPr sz="1425" b="1">
                <a:solidFill>
                  <a:srgbClr val="111614"/>
                </a:solidFill>
              </a:rPr>
              <a:t>claims + expiry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401D0-AA26-4A0F-8EB8-D3632B72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6769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5794C"/>
                </a:solidFill>
              </a:defRPr>
            </a:pPr>
            <a:r>
              <a:rPr sz="900" b="1">
                <a:solidFill>
                  <a:srgbClr val="15794C"/>
                </a:solidFill>
              </a:rPr>
              <a:t>VERIFIER RECEIVES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146CE-E833-40BF-8CF0-9A036119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905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614"/>
                </a:solidFill>
              </a:defRPr>
            </a:pPr>
            <a:r>
              <a:rPr sz="1425" b="1">
                <a:solidFill>
                  <a:srgbClr val="111614"/>
                </a:solidFill>
              </a:rPr>
              <a:t>predicate + receipt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A5864-6418-46CC-8626-B5181BA0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PAYPROOF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53BE5-D85C-4A64-8AE4-DF65CD34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43141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1F0DF-EDEE-41D4-A8AB-D5C8B834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THE 12-WEEK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DE7B7-62BA-4DB0-AF79-24F049E9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614"/>
                </a:solidFill>
              </a:defRPr>
            </a:pPr>
            <a:r>
              <a:rPr sz="3300" b="1">
                <a:solidFill>
                  <a:srgbClr val="111614"/>
                </a:solidFill>
              </a:rPr>
              <a:t>Fund the step from proof to operating network.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4F62D-0F42-4F15-B16D-31A84BF8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E7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CA239-9791-4DD4-945B-287A2CA9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7E2B2-814F-4610-BD5A-DD4FC729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43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4"/>
                </a:solidFill>
              </a:defRPr>
            </a:pPr>
            <a:r>
              <a:rPr sz="2025" b="1">
                <a:solidFill>
                  <a:srgbClr val="111614"/>
                </a:solidFill>
              </a:rPr>
              <a:t>Issuer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A57A0-4F80-40CA-8B63-6BCED886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194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Authenticated case vault</a:t>
            </a:r>
          </a:p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and issuer-controlled keys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04D44-AC7D-4FDC-A0B5-406EC985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9075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429B4-027A-4DD5-9B14-B61E7234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81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0A1D6-8E1F-4EA8-8046-527CF4D4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4"/>
                </a:solidFill>
              </a:defRPr>
            </a:pPr>
            <a:r>
              <a:rPr sz="2025" b="1">
                <a:solidFill>
                  <a:srgbClr val="111614"/>
                </a:solidFill>
              </a:rPr>
              <a:t>Attestation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A472C-8918-42BD-8703-7873FDD5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194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SAS schema, expiry,</a:t>
            </a:r>
          </a:p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verification and revocation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7C5E8-DC39-43B1-9936-3E0EAC14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B02CD-8BC3-46C3-9969-30539194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E4EED-8448-45A6-A7C9-32EC6C5C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4"/>
                </a:solidFill>
              </a:defRPr>
            </a:pPr>
            <a:r>
              <a:rPr sz="2025" b="1">
                <a:solidFill>
                  <a:srgbClr val="111614"/>
                </a:solidFill>
              </a:rPr>
              <a:t>Pilot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A6A53-B308-41CB-8746-B0850A4F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25 merchants and two</a:t>
            </a:r>
          </a:p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lending partners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59544D-ADAF-4ACA-B15A-6E884434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90750"/>
            <a:ext cx="2343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61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2C3DD-8089-4631-9EC2-C5B9A56E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9635F"/>
                </a:solidFill>
              </a:defRPr>
            </a:pPr>
            <a:r>
              <a:rPr sz="975" b="1">
                <a:solidFill>
                  <a:srgbClr val="59635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579F8-5FCC-4EA4-B82A-AE8BBF26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432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614"/>
                </a:solidFill>
              </a:defRPr>
            </a:pPr>
            <a:r>
              <a:rPr sz="2025" b="1">
                <a:solidFill>
                  <a:srgbClr val="111614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E224A-2F3E-4F93-A1F5-3593687F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19450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Publish verification time,</a:t>
            </a:r>
          </a:p>
          <a:p xmlns:a="http://schemas.openxmlformats.org/drawingml/2006/main">
            <a:pPr algn="l">
              <a:defRPr sz="1275" b="0">
                <a:solidFill>
                  <a:srgbClr val="59635F"/>
                </a:solidFill>
              </a:defRPr>
            </a:pPr>
            <a:r>
              <a:rPr sz="1275" b="0">
                <a:solidFill>
                  <a:srgbClr val="59635F"/>
                </a:solidFill>
              </a:rPr>
              <a:t>exceptions and learnings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A7BE4-9C4B-4590-AE86-DE6F7A85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0"/>
            <a:ext cx="111252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5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483B4-8AD2-438F-9CD2-979C86D0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66E7A0"/>
                </a:solidFill>
              </a:defRPr>
            </a:pPr>
            <a:r>
              <a:rPr sz="3150" b="1">
                <a:solidFill>
                  <a:srgbClr val="66E7A0"/>
                </a:solidFill>
              </a:rPr>
              <a:t>$10,000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866D53-269B-41C0-B0BA-5DA86F35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2BC"/>
                </a:solidFill>
              </a:defRPr>
            </a:pPr>
            <a:r>
              <a:rPr sz="1200" b="0">
                <a:solidFill>
                  <a:srgbClr val="B6C2BC"/>
                </a:solidFill>
              </a:rPr>
              <a:t>grant 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493F8-8A89-4253-A88C-11BFB1B4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762500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25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086DA7-306E-4A1F-8F36-41998F94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7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2BC"/>
                </a:solidFill>
              </a:defRPr>
            </a:pPr>
            <a:r>
              <a:rPr sz="1200" b="0">
                <a:solidFill>
                  <a:srgbClr val="B6C2BC"/>
                </a:solidFill>
              </a:rPr>
              <a:t>merchant 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EFFD58-48DC-4483-A4DB-537D9B9F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92BED-2A9F-44FA-8496-903554F3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76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2BC"/>
                </a:solidFill>
              </a:defRPr>
            </a:pPr>
            <a:r>
              <a:rPr sz="1200" b="0">
                <a:solidFill>
                  <a:srgbClr val="B6C2BC"/>
                </a:solidFill>
              </a:rPr>
              <a:t>lending partners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50666B-2B5C-4A02-857A-AA75BB00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12 weeks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F13E05-77C4-409A-8011-DB07078A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276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6C2BC"/>
                </a:solidFill>
              </a:defRPr>
            </a:pPr>
            <a:r>
              <a:rPr sz="1200" b="0">
                <a:solidFill>
                  <a:srgbClr val="B6C2BC"/>
                </a:solidFill>
              </a:rPr>
              <a:t>to measured pilot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C23481-28EF-4023-8E6C-6CC9AA44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PAYPROOF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3B4A33-2D1C-47D2-B873-8426D7A9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9635F"/>
                </a:solidFill>
              </a:defRPr>
            </a:pPr>
            <a:r>
              <a:rPr sz="825" b="1">
                <a:solidFill>
                  <a:srgbClr val="59635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20205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2026-07-31T05:38:23.9220000Z</dcterms:created>
  <dcterms:modified xsi:type="dcterms:W3CDTF">2026-07-31T05:38:23.9220000Z</dcterms:modified>
</coreProperties>
</file>