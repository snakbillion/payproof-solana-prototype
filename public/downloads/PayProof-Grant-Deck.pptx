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37b0a8e11744d6" /><Relationship Type="http://schemas.openxmlformats.org/officeDocument/2006/relationships/extended-properties" Target="/docProps/app.xml" Id="R471f26c089be45a7" /><Relationship Type="http://schemas.openxmlformats.org/officeDocument/2006/relationships/officeDocument" Target="/ppt/presentation.xml" Id="R8fe155cf107a4a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1669e4ac0e465a"/>
  </p:sldMasterIdLst>
  <p:notesMasterIdLst>
    <p:notesMasterId xmlns:r="http://schemas.openxmlformats.org/officeDocument/2006/relationships" r:id="R69d60bcb1ce6449b"/>
  </p:notesMasterIdLst>
  <p:sldIdLst>
    <p:sldId xmlns:r="http://schemas.openxmlformats.org/officeDocument/2006/relationships" id="256" r:id="R4230d3810ff14654"/>
    <p:sldId xmlns:r="http://schemas.openxmlformats.org/officeDocument/2006/relationships" id="257" r:id="R30c8cf4670604af0"/>
    <p:sldId xmlns:r="http://schemas.openxmlformats.org/officeDocument/2006/relationships" id="258" r:id="Ra611440716534fa7"/>
    <p:sldId xmlns:r="http://schemas.openxmlformats.org/officeDocument/2006/relationships" id="259" r:id="R15e07e36063a41b2"/>
    <p:sldId xmlns:r="http://schemas.openxmlformats.org/officeDocument/2006/relationships" id="260" r:id="Rb44c6d2467d64d72"/>
    <p:sldId xmlns:r="http://schemas.openxmlformats.org/officeDocument/2006/relationships" id="261" r:id="Rea6fb22ff5b54c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c6e7038875490b" /><Relationship Type="http://schemas.openxmlformats.org/officeDocument/2006/relationships/slideMaster" Target="/ppt/slideMasters/slideMaster1.xml" Id="R971669e4ac0e465a" /><Relationship Type="http://schemas.openxmlformats.org/officeDocument/2006/relationships/notesMaster" Target="/ppt/notesMasters/notesMaster1.xml" Id="R69d60bcb1ce6449b" /><Relationship Type="http://schemas.openxmlformats.org/officeDocument/2006/relationships/presProps" Target="/ppt/presProps.xml" Id="R8393df1f965448b6" /><Relationship Type="http://schemas.openxmlformats.org/officeDocument/2006/relationships/tableStyles" Target="/ppt/tableStyles.xml" Id="Re816462e1d414ca5" /><Relationship Type="http://schemas.openxmlformats.org/officeDocument/2006/relationships/slide" Target="/ppt/slides/slide1.xml" Id="R4230d3810ff14654" /><Relationship Type="http://schemas.openxmlformats.org/officeDocument/2006/relationships/slide" Target="/ppt/slides/slide2.xml" Id="R30c8cf4670604af0" /><Relationship Type="http://schemas.openxmlformats.org/officeDocument/2006/relationships/slide" Target="/ppt/slides/slide3.xml" Id="Ra611440716534fa7" /><Relationship Type="http://schemas.openxmlformats.org/officeDocument/2006/relationships/slide" Target="/ppt/slides/slide4.xml" Id="R15e07e36063a41b2" /><Relationship Type="http://schemas.openxmlformats.org/officeDocument/2006/relationships/slide" Target="/ppt/slides/slide5.xml" Id="Rb44c6d2467d64d72" /><Relationship Type="http://schemas.openxmlformats.org/officeDocument/2006/relationships/slide" Target="/ppt/slides/slide6.xml" Id="Rea6fb22ff5b54c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c4b028757149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c851a1c4e04547" /><Relationship Type="http://schemas.openxmlformats.org/officeDocument/2006/relationships/notesMaster" Target="/ppt/notesMasters/notesMaster1.xml" Id="R57fd2d69bf7142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6e0793288d4e93" /><Relationship Type="http://schemas.openxmlformats.org/officeDocument/2006/relationships/notesMaster" Target="/ppt/notesMasters/notesMaster1.xml" Id="R3f6f35bd796c42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a67a50bdf94429" /><Relationship Type="http://schemas.openxmlformats.org/officeDocument/2006/relationships/notesMaster" Target="/ppt/notesMasters/notesMaster1.xml" Id="R7b253624ee5a4c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5303032e554776" /><Relationship Type="http://schemas.openxmlformats.org/officeDocument/2006/relationships/notesMaster" Target="/ppt/notesMasters/notesMaster1.xml" Id="R2f6d30f6d4e248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32e026b9024080" /><Relationship Type="http://schemas.openxmlformats.org/officeDocument/2006/relationships/notesMaster" Target="/ppt/notesMasters/notesMaster1.xml" Id="R830715ca71a942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03e8b9327c4e81" /><Relationship Type="http://schemas.openxmlformats.org/officeDocument/2006/relationships/notesMaster" Target="/ppt/notesMasters/notesMaster1.xml" Id="R3ddae93936f840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https://snakbillion.github.io/payproof-solana-prototype/</a:t>
            </a:r>
          </a:p>
          <a:p xmlns:a="http://schemas.openxmlformats.org/drawingml/2006/main">
            <a:r>
              <a:t>- https://github.com/SNAKBILLION/payproof-solana-prototype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problem statement and import schema: https://github.com/SNAKBILLION/payproof-solana-prototype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 captured from local working product using the downloadable sample CSV bundle.</a:t>
            </a:r>
          </a:p>
          <a:p xmlns:a="http://schemas.openxmlformats.org/drawingml/2006/main">
            <a:r>
              <a:t>- https://snakbillion.github.io/payproof-solana-prototype/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 captured from the working policy engine and sample evidence bundle.</a:t>
            </a:r>
          </a:p>
          <a:p xmlns:a="http://schemas.openxmlformats.org/drawingml/2006/main">
            <a:r>
              <a:t>- https://github.com/SNAKBILLION/payproof-solana-prototype/blob/main/SUBMISSION.md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https://solana.com/docs/tools/attestations/instructions/create-attestation</a:t>
            </a:r>
          </a:p>
          <a:p xmlns:a="http://schemas.openxmlformats.org/drawingml/2006/main">
            <a:r>
              <a:t>- Screenshots captured from the working PayProof product.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https://superteam.fun/earn/grants/solana-foundation-india-grants</a:t>
            </a:r>
          </a:p>
          <a:p xmlns:a="http://schemas.openxmlformats.org/drawingml/2006/main">
            <a:r>
              <a:t>- https://solana.org/grants-funding</a:t>
            </a:r>
          </a:p>
          <a:p xmlns:a="http://schemas.openxmlformats.org/drawingml/2006/main">
            <a:r>
              <a:t>- https://colosseum.com/eternal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46fe351d4242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11827c5b424ca2" /><Relationship Type="http://schemas.openxmlformats.org/officeDocument/2006/relationships/slideLayout" Target="/ppt/slideLayouts/slideLayout1.xml" Id="R5e392fe7d7554a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392fe7d7554a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87b8dc72f4d30" /><Relationship Type="http://schemas.openxmlformats.org/officeDocument/2006/relationships/image" Target="/ppt/media/image.png" Id="R130055faccdb4a50" /><Relationship Type="http://schemas.openxmlformats.org/officeDocument/2006/relationships/notesSlide" Target="/ppt/notesSlides/notesSlide1.xml" Id="Rc1474b4d273947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e08f06e4b4eba" /><Relationship Type="http://schemas.openxmlformats.org/officeDocument/2006/relationships/notesSlide" Target="/ppt/notesSlides/notesSlide2.xml" Id="R73e288f4739743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5226cda3b4aac" /><Relationship Type="http://schemas.openxmlformats.org/officeDocument/2006/relationships/image" Target="/ppt/media/image2.png" Id="R255d84be52d4415a" /><Relationship Type="http://schemas.openxmlformats.org/officeDocument/2006/relationships/notesSlide" Target="/ppt/notesSlides/notesSlide3.xml" Id="Rf740cf7debf944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b1bf3d79b4152" /><Relationship Type="http://schemas.openxmlformats.org/officeDocument/2006/relationships/image" Target="/ppt/media/image3.png" Id="Rebef41a63e4940b2" /><Relationship Type="http://schemas.openxmlformats.org/officeDocument/2006/relationships/notesSlide" Target="/ppt/notesSlides/notesSlide4.xml" Id="R81e3e2d2b0c74b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6d72b5eec4201" /><Relationship Type="http://schemas.openxmlformats.org/officeDocument/2006/relationships/image" Target="/ppt/media/image4.png" Id="R705b6b81323746d3" /><Relationship Type="http://schemas.openxmlformats.org/officeDocument/2006/relationships/image" Target="/ppt/media/image5.png" Id="R5cf263e550054bf5" /><Relationship Type="http://schemas.openxmlformats.org/officeDocument/2006/relationships/notesSlide" Target="/ppt/notesSlides/notesSlide5.xml" Id="R063e3f1af6e445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62ec59af74925" /><Relationship Type="http://schemas.openxmlformats.org/officeDocument/2006/relationships/notesSlide" Target="/ppt/notesSlides/notesSlide6.xml" Id="R07c4cf0ab4014d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B27E50-055D-4ADC-BC29-56DE9FEA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794C"/>
                </a:solidFill>
              </a:defRPr>
            </a:pPr>
            <a:r>
              <a:rPr sz="975" b="1">
                <a:solidFill>
                  <a:srgbClr val="15794C"/>
                </a:solidFill>
              </a:rPr>
              <a:t>SOLANA COMMERCE EVIDENCE NETWORK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472E9-70DB-4B26-9645-8C5AC3DF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4762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11614"/>
                </a:solidFill>
              </a:defRPr>
            </a:pPr>
            <a:r>
              <a:rPr sz="4575" b="1">
                <a:solidFill>
                  <a:srgbClr val="111614"/>
                </a:solidFill>
              </a:rPr>
              <a:t>Invisible commerce,</a:t>
            </a:r>
          </a:p>
          <a:p xmlns:a="http://schemas.openxmlformats.org/drawingml/2006/main">
            <a:pPr algn="l">
              <a:defRPr sz="4575" b="1">
                <a:solidFill>
                  <a:srgbClr val="111614"/>
                </a:solidFill>
              </a:defRPr>
            </a:pPr>
            <a:r>
              <a:rPr sz="4575" b="1">
                <a:solidFill>
                  <a:srgbClr val="111614"/>
                </a:solidFill>
              </a:rPr>
              <a:t>verified.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9A002-40B0-432A-8671-773306C0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333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35F"/>
                </a:solidFill>
              </a:defRPr>
            </a:pPr>
            <a:r>
              <a:rPr sz="1800" b="0">
                <a:solidFill>
                  <a:srgbClr val="59635F"/>
                </a:solidFill>
              </a:rPr>
              <a:t>PayProof turns fragmented merchant records into a consent-bound claim a lender can verify.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03E50-C332-4CEF-8724-E586E7BD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0131D-04CE-4E4D-A46A-C3A17EC0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614"/>
                </a:solidFill>
              </a:defRPr>
            </a:pPr>
            <a:r>
              <a:rPr sz="1575" b="1">
                <a:solidFill>
                  <a:srgbClr val="111614"/>
                </a:solidFill>
              </a:rPr>
              <a:t>28 records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9983E-6B5A-470B-820D-13051B9F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482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614"/>
                </a:solidFill>
              </a:defRPr>
            </a:pPr>
            <a:r>
              <a:rPr sz="1575" b="1">
                <a:solidFill>
                  <a:srgbClr val="111614"/>
                </a:solidFill>
              </a:rPr>
              <a:t>13 events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95E26-D3EB-4801-9527-1B831909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0482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614"/>
                </a:solidFill>
              </a:defRPr>
            </a:pPr>
            <a:r>
              <a:rPr sz="1575" b="1">
                <a:solidFill>
                  <a:srgbClr val="111614"/>
                </a:solidFill>
              </a:rPr>
              <a:t>92% cross-source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E7AD0-E04A-4EDB-9D94-8012F829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48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5F"/>
                </a:solidFill>
              </a:defRPr>
            </a:pPr>
            <a:r>
              <a:rPr sz="1200" b="0">
                <a:solidFill>
                  <a:srgbClr val="59635F"/>
                </a:solidFill>
              </a:rPr>
              <a:t>Working product on Solana devnet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77144-85A8-43CA-9E31-E9471AAA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85800"/>
            <a:ext cx="626745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0055faccdb4a50"/>
          <a:stretch xmlns:a="http://schemas.openxmlformats.org/drawingml/2006/main"/>
        </p:blipFill>
        <p:spPr>
          <a:xfrm xmlns:a="http://schemas.openxmlformats.org/drawingml/2006/main">
            <a:off x="5619750" y="1661517"/>
            <a:ext cx="5810250" cy="3268266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2712D-FB53-44B3-AD04-8657999A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35F"/>
                </a:solidFill>
              </a:defRPr>
            </a:pPr>
            <a:r>
              <a:rPr sz="825" b="1">
                <a:solidFill>
                  <a:srgbClr val="59635F"/>
                </a:solidFill>
              </a:rPr>
              <a:t>PAYPROOF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5739AC-96B0-4AE4-95D9-3122CC1E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35F"/>
                </a:solidFill>
              </a:defRPr>
            </a:pPr>
            <a:r>
              <a:rPr sz="825" b="1">
                <a:solidFill>
                  <a:srgbClr val="59635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345652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88D6E8-09F8-4F2B-9999-E7522F34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5F"/>
                </a:solidFill>
              </a:defRPr>
            </a:pPr>
            <a:r>
              <a:rPr sz="975" b="1">
                <a:solidFill>
                  <a:srgbClr val="59635F"/>
                </a:solidFill>
              </a:rPr>
              <a:t>THE UNDERWRITING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93A35-67FE-4EF4-8B00-033EA95F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790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614"/>
                </a:solidFill>
              </a:defRPr>
            </a:pPr>
            <a:r>
              <a:rPr sz="4050" b="1">
                <a:solidFill>
                  <a:srgbClr val="111614"/>
                </a:solidFill>
              </a:rPr>
              <a:t>The commerce is real.</a:t>
            </a:r>
          </a:p>
          <a:p xmlns:a="http://schemas.openxmlformats.org/drawingml/2006/main">
            <a:pPr algn="l">
              <a:defRPr sz="4050" b="1">
                <a:solidFill>
                  <a:srgbClr val="111614"/>
                </a:solidFill>
              </a:defRPr>
            </a:pPr>
            <a:r>
              <a:rPr sz="4050" b="1">
                <a:solidFill>
                  <a:srgbClr val="111614"/>
                </a:solidFill>
              </a:rPr>
              <a:t>The evidence is disconnected.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D2E9B-F537-4810-9999-7D0DA887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685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635F"/>
                </a:solidFill>
              </a:defRPr>
            </a:pPr>
            <a:r>
              <a:rPr sz="1725" b="0">
                <a:solidFill>
                  <a:srgbClr val="59635F"/>
                </a:solidFill>
              </a:rPr>
              <a:t>A WhatsApp order, invoice, UPI settlement and bank credit may describe one sale. Today a lender must reconstruct that chain manually.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C61B7-B301-4094-A2B3-B2B519D4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6C0D8-9C5F-4B50-B7D5-23EAA477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5F"/>
                </a:solidFill>
              </a:defRPr>
            </a:pPr>
            <a:r>
              <a:rPr sz="975" b="1">
                <a:solidFill>
                  <a:srgbClr val="59635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C2930-B4E1-491B-996F-6BAD23E1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614"/>
                </a:solidFill>
              </a:defRPr>
            </a:pPr>
            <a:r>
              <a:rPr sz="1875" b="1">
                <a:solidFill>
                  <a:srgbClr val="111614"/>
                </a:solidFill>
              </a:rPr>
              <a:t>Order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57070-109D-449E-B4BC-884C92AD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5F"/>
                </a:solidFill>
              </a:defRPr>
            </a:pPr>
            <a:r>
              <a:rPr sz="1200" b="0">
                <a:solidFill>
                  <a:srgbClr val="59635F"/>
                </a:solidFill>
              </a:rPr>
              <a:t>intent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E3C413-AE01-4412-86B1-74EC0F6E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DCB20C-4E1F-4802-A1C1-2DDEFA79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14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5F"/>
                </a:solidFill>
              </a:defRPr>
            </a:pPr>
            <a:r>
              <a:rPr sz="975" b="1">
                <a:solidFill>
                  <a:srgbClr val="59635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187D8-6AB9-485C-B06B-2B60B4EB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197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614"/>
                </a:solidFill>
              </a:defRPr>
            </a:pPr>
            <a:r>
              <a:rPr sz="1875" b="1">
                <a:solidFill>
                  <a:srgbClr val="111614"/>
                </a:solidFill>
              </a:rPr>
              <a:t>Invoice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4272A-0593-47B6-950C-CB2B3A2D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81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5F"/>
                </a:solidFill>
              </a:defRPr>
            </a:pPr>
            <a:r>
              <a:rPr sz="1200" b="0">
                <a:solidFill>
                  <a:srgbClr val="59635F"/>
                </a:solidFill>
              </a:rPr>
              <a:t>obligation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1FFED-A753-46E4-B9A0-7144EB00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7C23E5-C360-4565-8673-8522B125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14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5F"/>
                </a:solidFill>
              </a:defRPr>
            </a:pPr>
            <a:r>
              <a:rPr sz="975" b="1">
                <a:solidFill>
                  <a:srgbClr val="59635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06667F-E62C-4F22-8DD3-0CEB0229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197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614"/>
                </a:solidFill>
              </a:defRPr>
            </a:pPr>
            <a:r>
              <a:rPr sz="1875" b="1">
                <a:solidFill>
                  <a:srgbClr val="111614"/>
                </a:solidFill>
              </a:rPr>
              <a:t>UPI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69709-9A3D-4F92-850A-C9A24FDE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581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5F"/>
                </a:solidFill>
              </a:defRPr>
            </a:pPr>
            <a:r>
              <a:rPr sz="1200" b="0">
                <a:solidFill>
                  <a:srgbClr val="59635F"/>
                </a:solidFill>
              </a:rPr>
              <a:t>settlement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D148D-E08E-4105-930A-F29AD1D8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62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E7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1901B0-8BEE-4E01-BBC4-11960E88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914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5F"/>
                </a:solidFill>
              </a:defRPr>
            </a:pPr>
            <a:r>
              <a:rPr sz="975" b="1">
                <a:solidFill>
                  <a:srgbClr val="59635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B6628F-D7F2-4A7B-A5BC-4C8EE229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2197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614"/>
                </a:solidFill>
              </a:defRPr>
            </a:pPr>
            <a:r>
              <a:rPr sz="1875" b="1">
                <a:solidFill>
                  <a:srgbClr val="111614"/>
                </a:solidFill>
              </a:rPr>
              <a:t>Bank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4E2B75-4854-438F-A633-91D1F019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581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5F"/>
                </a:solidFill>
              </a:defRPr>
            </a:pPr>
            <a:r>
              <a:rPr sz="1200" b="0">
                <a:solidFill>
                  <a:srgbClr val="59635F"/>
                </a:solidFill>
              </a:rPr>
              <a:t>receipt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6BD3F7-A198-408A-A120-AAF7DA86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35F"/>
                </a:solidFill>
              </a:defRPr>
            </a:pPr>
            <a:r>
              <a:rPr sz="825" b="1">
                <a:solidFill>
                  <a:srgbClr val="59635F"/>
                </a:solidFill>
              </a:rPr>
              <a:t>PAYPROOF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3243CF-1905-4416-A2AF-20802549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35F"/>
                </a:solidFill>
              </a:defRPr>
            </a:pPr>
            <a:r>
              <a:rPr sz="825" b="1">
                <a:solidFill>
                  <a:srgbClr val="59635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377897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DD62C-5A1D-4045-88CA-C262272F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5F"/>
                </a:solidFill>
              </a:defRPr>
            </a:pPr>
            <a:r>
              <a:rPr sz="975" b="1">
                <a:solidFill>
                  <a:srgbClr val="59635F"/>
                </a:solidFill>
              </a:rPr>
              <a:t>WORKING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78CBD-EC8D-4030-B79E-5F272981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614"/>
                </a:solidFill>
              </a:defRPr>
            </a:pPr>
            <a:r>
              <a:rPr sz="2925" b="1">
                <a:solidFill>
                  <a:srgbClr val="111614"/>
                </a:solidFill>
              </a:rPr>
              <a:t>Reconciliation creates a traceable revenue graph.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0789D-DE51-4263-9A79-51A7F795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35F"/>
                </a:solidFill>
              </a:defRPr>
            </a:pPr>
            <a:r>
              <a:rPr sz="1500" b="0">
                <a:solidFill>
                  <a:srgbClr val="59635F"/>
                </a:solidFill>
              </a:rPr>
              <a:t>Every event keeps source provenance, confidence and exceptions.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5d84be52d4415a"/>
          <a:stretch xmlns:a="http://schemas.openxmlformats.org/drawingml/2006/main"/>
        </p:blipFill>
        <p:spPr>
          <a:xfrm xmlns:a="http://schemas.openxmlformats.org/drawingml/2006/main">
            <a:off x="2387600" y="1924050"/>
            <a:ext cx="741680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2218F-8A14-4B5F-BA60-DD770584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047750"/>
            <a:ext cx="2781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E32E3-7285-4CBB-AF02-675F4337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12395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28 to 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CCD51-2398-474C-9416-0231C2A7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1430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C2BC"/>
                </a:solidFill>
              </a:defRPr>
            </a:pPr>
            <a:r>
              <a:rPr sz="1125" b="0">
                <a:solidFill>
                  <a:srgbClr val="B6C2BC"/>
                </a:solidFill>
              </a:rPr>
              <a:t>records to events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B4AE1-5A39-43FF-AD58-61EC87A6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382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E7A0"/>
                </a:solidFill>
              </a:defRPr>
            </a:pPr>
            <a:r>
              <a:rPr sz="1050" b="1">
                <a:solidFill>
                  <a:srgbClr val="66E7A0"/>
                </a:solidFill>
              </a:rPr>
              <a:t>92% cross-source 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44764-42D0-4F0A-90A9-AD51ADD0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35F"/>
                </a:solidFill>
              </a:defRPr>
            </a:pPr>
            <a:r>
              <a:rPr sz="825" b="1">
                <a:solidFill>
                  <a:srgbClr val="59635F"/>
                </a:solidFill>
              </a:rPr>
              <a:t>PAYPROOF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25DEE-85AC-47E0-BCEE-79C7DF57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35F"/>
                </a:solidFill>
              </a:defRPr>
            </a:pPr>
            <a:r>
              <a:rPr sz="825" b="1">
                <a:solidFill>
                  <a:srgbClr val="59635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209652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EFC9E6-6051-43F8-9039-41C10C49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E7A0"/>
                </a:solidFill>
              </a:defRPr>
            </a:pPr>
            <a:r>
              <a:rPr sz="975" b="1">
                <a:solidFill>
                  <a:srgbClr val="66E7A0"/>
                </a:solidFill>
              </a:rPr>
              <a:t>DECISION INFRASTRUCTURE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99B9F-8EEE-4553-9C84-DF618466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 lender can replay every reason.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96471-9069-47FE-8031-E4D98F93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628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6C2BC"/>
                </a:solidFill>
              </a:defRPr>
            </a:pPr>
            <a:r>
              <a:rPr sz="1500" b="0">
                <a:solidFill>
                  <a:srgbClr val="B6C2BC"/>
                </a:solidFill>
              </a:rPr>
              <a:t>No universal credit score. One purpose-specific policy, five explicit checks, and mandatory human review.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ef41a63e4940b2"/>
          <a:stretch xmlns:a="http://schemas.openxmlformats.org/drawingml/2006/main"/>
        </p:blipFill>
        <p:spPr>
          <a:xfrm xmlns:a="http://schemas.openxmlformats.org/drawingml/2006/main">
            <a:off x="4850342" y="2333625"/>
            <a:ext cx="6434667" cy="3619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6607C-5929-4118-96E9-BF567B4C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FF43F-4F26-4B37-82C1-5FC4F96B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5/5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99CAA-E9FF-4136-8138-A3056135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05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2AD"/>
                </a:solidFill>
              </a:defRPr>
            </a:pPr>
            <a:r>
              <a:rPr sz="1200" b="0">
                <a:solidFill>
                  <a:srgbClr val="A8B2AD"/>
                </a:solidFill>
              </a:rPr>
              <a:t>policy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CF0364-0BCE-4C51-B2D4-475492E4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A39D6-77C9-41F3-B01B-2404CDAC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Rs 39,767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F7F10-5504-4C04-B4D9-F06BE38C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95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2AD"/>
                </a:solidFill>
              </a:defRPr>
            </a:pPr>
            <a:r>
              <a:rPr sz="1200" b="0">
                <a:solidFill>
                  <a:srgbClr val="A8B2AD"/>
                </a:solidFill>
              </a:rPr>
              <a:t>supported monthly revenue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4A615C-73C1-4B12-A393-5DF8C7E3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EDAA60-1F93-4362-8F50-6A7A2628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14%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AA5AA6-3BCD-4067-A43B-A0D2C0D8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86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2AD"/>
                </a:solidFill>
              </a:defRPr>
            </a:pPr>
            <a:r>
              <a:rPr sz="1200" b="0">
                <a:solidFill>
                  <a:srgbClr val="A8B2AD"/>
                </a:solidFill>
              </a:rPr>
              <a:t>revenue volatility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5BD1F-6C05-4394-AA35-A7D2A186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2AD"/>
                </a:solidFill>
              </a:defRPr>
            </a:pPr>
            <a:r>
              <a:rPr sz="825" b="1">
                <a:solidFill>
                  <a:srgbClr val="A8B2AD"/>
                </a:solidFill>
              </a:rPr>
              <a:t>PAYPROOF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8ABD46-EB59-4D81-8AC3-5844CB64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8B2AD"/>
                </a:solidFill>
              </a:defRPr>
            </a:pPr>
            <a:r>
              <a:rPr sz="825" b="1">
                <a:solidFill>
                  <a:srgbClr val="A8B2A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083506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D7027C-0F86-4779-ABA5-7DA493BE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5F"/>
                </a:solidFill>
              </a:defRPr>
            </a:pPr>
            <a:r>
              <a:rPr sz="975" b="1">
                <a:solidFill>
                  <a:srgbClr val="59635F"/>
                </a:solidFill>
              </a:rPr>
              <a:t>PRIVACY-SAFE TRUST RAIL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F6BCE-4D61-482C-B9B4-1852AB00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614"/>
                </a:solidFill>
              </a:defRPr>
            </a:pPr>
            <a:r>
              <a:rPr sz="3225" b="1">
                <a:solidFill>
                  <a:srgbClr val="111614"/>
                </a:solidFill>
              </a:rPr>
              <a:t>Share a claim, not a financial life.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0CD28-8820-40BC-9BA0-8A7E1CCF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35F"/>
                </a:solidFill>
              </a:defRPr>
            </a:pPr>
            <a:r>
              <a:rPr sz="1500" b="0">
                <a:solidFill>
                  <a:srgbClr val="59635F"/>
                </a:solidFill>
              </a:rPr>
              <a:t>Raw records stay off-chain. The merchant selects claims and expiry; Solana carries the verifiable commitment.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5b6b81323746d3"/>
          <a:stretch xmlns:a="http://schemas.openxmlformats.org/drawingml/2006/main"/>
        </p:blipFill>
        <p:spPr>
          <a:xfrm xmlns:a="http://schemas.openxmlformats.org/drawingml/2006/main">
            <a:off x="533400" y="2362795"/>
            <a:ext cx="5314950" cy="2989659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f263e550054bf5"/>
          <a:stretch xmlns:a="http://schemas.openxmlformats.org/drawingml/2006/main"/>
        </p:blipFill>
        <p:spPr>
          <a:xfrm xmlns:a="http://schemas.openxmlformats.org/drawingml/2006/main">
            <a:off x="6343650" y="2362795"/>
            <a:ext cx="5314950" cy="298965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329ED-BF38-4DB7-9A04-FC18098F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794C"/>
                </a:solidFill>
              </a:defRPr>
            </a:pPr>
            <a:r>
              <a:rPr sz="900" b="1">
                <a:solidFill>
                  <a:srgbClr val="15794C"/>
                </a:solidFill>
              </a:rPr>
              <a:t>MERCHANT CONTROLS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E0A2B-32BD-45AE-BA05-897E7C76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614"/>
                </a:solidFill>
              </a:defRPr>
            </a:pPr>
            <a:r>
              <a:rPr sz="1425" b="1">
                <a:solidFill>
                  <a:srgbClr val="111614"/>
                </a:solidFill>
              </a:rPr>
              <a:t>claims + expiry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D46E5-B51D-4567-8C41-BBE2A23E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6769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794C"/>
                </a:solidFill>
              </a:defRPr>
            </a:pPr>
            <a:r>
              <a:rPr sz="900" b="1">
                <a:solidFill>
                  <a:srgbClr val="15794C"/>
                </a:solidFill>
              </a:rPr>
              <a:t>VERIFIER RECEIVES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2E5D8-EC13-434C-930F-C18396D4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905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614"/>
                </a:solidFill>
              </a:defRPr>
            </a:pPr>
            <a:r>
              <a:rPr sz="1425" b="1">
                <a:solidFill>
                  <a:srgbClr val="111614"/>
                </a:solidFill>
              </a:rPr>
              <a:t>predicate + receipt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FC99F7-2565-4B8E-BDA2-6E1FA6A4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35F"/>
                </a:solidFill>
              </a:defRPr>
            </a:pPr>
            <a:r>
              <a:rPr sz="825" b="1">
                <a:solidFill>
                  <a:srgbClr val="59635F"/>
                </a:solidFill>
              </a:rPr>
              <a:t>PAYPROOF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B899F-90F9-437E-8980-D1309369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35F"/>
                </a:solidFill>
              </a:defRPr>
            </a:pPr>
            <a:r>
              <a:rPr sz="825" b="1">
                <a:solidFill>
                  <a:srgbClr val="59635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847546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B22D6A-35C6-4804-900B-19B3B959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5F"/>
                </a:solidFill>
              </a:defRPr>
            </a:pPr>
            <a:r>
              <a:rPr sz="975" b="1">
                <a:solidFill>
                  <a:srgbClr val="59635F"/>
                </a:solidFill>
              </a:rPr>
              <a:t>THE 12-WEEK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9A08B-E680-4FA1-B98B-B837954B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614"/>
                </a:solidFill>
              </a:defRPr>
            </a:pPr>
            <a:r>
              <a:rPr sz="3300" b="1">
                <a:solidFill>
                  <a:srgbClr val="111614"/>
                </a:solidFill>
              </a:rPr>
              <a:t>Fund the step from proof to operating network.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66C62-D250-434C-886A-D0BC49F6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2343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E7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81D94-D9CE-4557-83B2-0DB2F94A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5F"/>
                </a:solidFill>
              </a:defRPr>
            </a:pPr>
            <a:r>
              <a:rPr sz="975" b="1">
                <a:solidFill>
                  <a:srgbClr val="59635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3FBF7-019C-4DA4-8654-1565F16D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432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614"/>
                </a:solidFill>
              </a:defRPr>
            </a:pPr>
            <a:r>
              <a:rPr sz="2025" b="1">
                <a:solidFill>
                  <a:srgbClr val="111614"/>
                </a:solidFill>
              </a:rPr>
              <a:t>Issuer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05C86-EEAC-42D9-B308-033B4881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5F"/>
                </a:solidFill>
              </a:defRPr>
            </a:pPr>
            <a:r>
              <a:rPr sz="1275" b="0">
                <a:solidFill>
                  <a:srgbClr val="59635F"/>
                </a:solidFill>
              </a:rPr>
              <a:t>Authenticated case vault</a:t>
            </a:r>
          </a:p>
          <a:p xmlns:a="http://schemas.openxmlformats.org/drawingml/2006/main">
            <a:pPr algn="l">
              <a:defRPr sz="1275" b="0">
                <a:solidFill>
                  <a:srgbClr val="59635F"/>
                </a:solidFill>
              </a:defRPr>
            </a:pPr>
            <a:r>
              <a:rPr sz="1275" b="0">
                <a:solidFill>
                  <a:srgbClr val="59635F"/>
                </a:solidFill>
              </a:rPr>
              <a:t>and issuer-controlled keys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30F0D-19F1-4755-AFE3-FE935D90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90750"/>
            <a:ext cx="2343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8F1B8B-B5E2-4577-8A56-B226A092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812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5F"/>
                </a:solidFill>
              </a:defRPr>
            </a:pPr>
            <a:r>
              <a:rPr sz="975" b="1">
                <a:solidFill>
                  <a:srgbClr val="59635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B915A5-B4FF-452E-B86A-AD1E9D48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432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614"/>
                </a:solidFill>
              </a:defRPr>
            </a:pPr>
            <a:r>
              <a:rPr sz="2025" b="1">
                <a:solidFill>
                  <a:srgbClr val="111614"/>
                </a:solidFill>
              </a:rPr>
              <a:t>Attestation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03605D-E27D-48AB-BF95-2159D537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1945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5F"/>
                </a:solidFill>
              </a:defRPr>
            </a:pPr>
            <a:r>
              <a:rPr sz="1275" b="0">
                <a:solidFill>
                  <a:srgbClr val="59635F"/>
                </a:solidFill>
              </a:rPr>
              <a:t>SAS schema, expiry,</a:t>
            </a:r>
          </a:p>
          <a:p xmlns:a="http://schemas.openxmlformats.org/drawingml/2006/main">
            <a:pPr algn="l">
              <a:defRPr sz="1275" b="0">
                <a:solidFill>
                  <a:srgbClr val="59635F"/>
                </a:solidFill>
              </a:defRPr>
            </a:pPr>
            <a:r>
              <a:rPr sz="1275" b="0">
                <a:solidFill>
                  <a:srgbClr val="59635F"/>
                </a:solidFill>
              </a:rPr>
              <a:t>verification and revocation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9260DE-2C95-46CE-987D-87FAEDA2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343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129813-DF2F-4E3D-8AF4-25195E6C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5F"/>
                </a:solidFill>
              </a:defRPr>
            </a:pPr>
            <a:r>
              <a:rPr sz="975" b="1">
                <a:solidFill>
                  <a:srgbClr val="59635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D8963-FEC7-4D3A-B4F8-E1381B25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432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614"/>
                </a:solidFill>
              </a:defRPr>
            </a:pPr>
            <a:r>
              <a:rPr sz="2025" b="1">
                <a:solidFill>
                  <a:srgbClr val="111614"/>
                </a:solidFill>
              </a:rPr>
              <a:t>Pilot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38CE6E-7D02-43EE-843B-F9028523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1945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5F"/>
                </a:solidFill>
              </a:defRPr>
            </a:pPr>
            <a:r>
              <a:rPr sz="1275" b="0">
                <a:solidFill>
                  <a:srgbClr val="59635F"/>
                </a:solidFill>
              </a:rPr>
              <a:t>10 merchants and one</a:t>
            </a:r>
          </a:p>
          <a:p xmlns:a="http://schemas.openxmlformats.org/drawingml/2006/main">
            <a:pPr algn="l">
              <a:defRPr sz="1275" b="0">
                <a:solidFill>
                  <a:srgbClr val="59635F"/>
                </a:solidFill>
              </a:defRPr>
            </a:pPr>
            <a:r>
              <a:rPr sz="1275" b="0">
                <a:solidFill>
                  <a:srgbClr val="59635F"/>
                </a:solidFill>
              </a:rPr>
              <a:t>lender design partner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4E41B6-98A7-4DA1-B700-208DC6AA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90750"/>
            <a:ext cx="2343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A0BBB7-5B8A-446C-AAFF-64613BB4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812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5F"/>
                </a:solidFill>
              </a:defRPr>
            </a:pPr>
            <a:r>
              <a:rPr sz="975" b="1">
                <a:solidFill>
                  <a:srgbClr val="59635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FC4F5D-1718-4620-A938-B62A7140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432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614"/>
                </a:solidFill>
              </a:defRPr>
            </a:pPr>
            <a:r>
              <a:rPr sz="2025" b="1">
                <a:solidFill>
                  <a:srgbClr val="111614"/>
                </a:solidFill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6DE408-CB54-4F6C-929A-C90268D2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1945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5F"/>
                </a:solidFill>
              </a:defRPr>
            </a:pPr>
            <a:r>
              <a:rPr sz="1275" b="0">
                <a:solidFill>
                  <a:srgbClr val="59635F"/>
                </a:solidFill>
              </a:rPr>
              <a:t>Publish verification time,</a:t>
            </a:r>
          </a:p>
          <a:p xmlns:a="http://schemas.openxmlformats.org/drawingml/2006/main">
            <a:pPr algn="l">
              <a:defRPr sz="1275" b="0">
                <a:solidFill>
                  <a:srgbClr val="59635F"/>
                </a:solidFill>
              </a:defRPr>
            </a:pPr>
            <a:r>
              <a:rPr sz="1275" b="0">
                <a:solidFill>
                  <a:srgbClr val="59635F"/>
                </a:solidFill>
              </a:rPr>
              <a:t>exceptions and learnings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F9A270-E649-4237-84D8-D705E22A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1125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6A10DB-55F4-4578-BA8A-60C1E60C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6E7A0"/>
                </a:solidFill>
              </a:defRPr>
            </a:pPr>
            <a:r>
              <a:rPr sz="3150" b="1">
                <a:solidFill>
                  <a:srgbClr val="66E7A0"/>
                </a:solidFill>
              </a:rPr>
              <a:t>$5,000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CAE39C-AC97-4B4C-BBFC-B087CCDA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2BC"/>
                </a:solidFill>
              </a:defRPr>
            </a:pPr>
            <a:r>
              <a:rPr sz="1200" b="0">
                <a:solidFill>
                  <a:srgbClr val="B6C2BC"/>
                </a:solidFill>
              </a:rPr>
              <a:t>grant ask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39F4CF-F609-4EB7-A4E3-0A1C2E78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A24248-B712-47BF-B851-0847A7F7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76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2BC"/>
                </a:solidFill>
              </a:defRPr>
            </a:pPr>
            <a:r>
              <a:rPr sz="1200" b="0">
                <a:solidFill>
                  <a:srgbClr val="B6C2BC"/>
                </a:solidFill>
              </a:rPr>
              <a:t>merchant cases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3AE2FB-BDA0-4DF0-A5BF-F7D698CD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286006-DC5E-409D-9134-144FE0CE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76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2BC"/>
                </a:solidFill>
              </a:defRPr>
            </a:pPr>
            <a:r>
              <a:rPr sz="1200" b="0">
                <a:solidFill>
                  <a:srgbClr val="B6C2BC"/>
                </a:solidFill>
              </a:rPr>
              <a:t>lender design partner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45D472-4400-441F-A5FB-8A919353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12 weeks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02FA7D-23D8-4B52-B656-5A83ED2D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276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2BC"/>
                </a:solidFill>
              </a:defRPr>
            </a:pPr>
            <a:r>
              <a:rPr sz="1200" b="0">
                <a:solidFill>
                  <a:srgbClr val="B6C2BC"/>
                </a:solidFill>
              </a:rPr>
              <a:t>to measured pilot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15CA29-F227-4943-8B01-4DA8E6BF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35F"/>
                </a:solidFill>
              </a:defRPr>
            </a:pPr>
            <a:r>
              <a:rPr sz="825" b="1">
                <a:solidFill>
                  <a:srgbClr val="59635F"/>
                </a:solidFill>
              </a:rPr>
              <a:t>PAYPROOF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D029A5-12EA-4639-ACAE-EC702EC7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35F"/>
                </a:solidFill>
              </a:defRPr>
            </a:pPr>
            <a:r>
              <a:rPr sz="825" b="1">
                <a:solidFill>
                  <a:srgbClr val="59635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030715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2026-08-01T10:50:42.2940000Z</dcterms:created>
  <dcterms:modified xsi:type="dcterms:W3CDTF">2026-08-01T10:50:42.2940000Z</dcterms:modified>
</coreProperties>
</file>